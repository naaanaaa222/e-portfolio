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50.xml" ContentType="application/vnd.openxmlformats-officedocument.presentationml.slide+xml"/>
  <Override PartName="/ppt/slides/slide40.xml" ContentType="application/vnd.openxmlformats-officedocument.presentationml.slide+xml"/>
  <Override PartName="/ppt/slideLayouts/slideLayout20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8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8" r:id="rId5"/>
    <p:sldId id="257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A01E5BC-4E2E-0A44-AD57-82074A0B8AF4}">
          <p14:sldIdLst>
            <p14:sldId id="256"/>
          </p14:sldIdLst>
        </p14:section>
        <p14:section name="Section 3" id="{0B1345A0-2F2A-A74C-9E1B-5BE5CAB41E2C}">
          <p14:sldIdLst>
            <p14:sldId id="259"/>
          </p14:sldIdLst>
        </p14:section>
        <p14:section name="Section 4" id="{EE3C5C38-04D2-154C-AB3C-A2065878EEDF}">
          <p14:sldIdLst>
            <p14:sldId id="260"/>
          </p14:sldIdLst>
        </p14:section>
        <p14:section name="Section 2" id="{776F3C8B-6AAC-ED45-97ED-AF5F0CB44972}">
          <p14:sldIdLst>
            <p14:sldId id="258"/>
          </p14:sldIdLst>
        </p14:section>
        <p14:section name="Section 1" id="{8DE1EC73-7564-854B-BAAB-5F8C035ED981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32FF"/>
    <a:srgbClr val="941100"/>
    <a:srgbClr val="501000"/>
    <a:srgbClr val="000000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35"/>
  </p:normalViewPr>
  <p:slideViewPr>
    <p:cSldViewPr snapToGrid="0">
      <p:cViewPr varScale="1">
        <p:scale>
          <a:sx n="101" d="100"/>
          <a:sy n="101" d="100"/>
        </p:scale>
        <p:origin x="14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AD13A-A282-7F48-B0F7-6BEA55CC9631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D20C7-9E81-284C-BD6F-1CD4FB647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249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C4FA1-D973-BAB7-A04E-63835760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2A0FDB-83BE-9BF7-7121-BC5A34E6F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D470C3-3F4E-D4BC-961E-522BBD2D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C1E651-DF11-9D79-927B-AB385DE8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CA414A-3C78-81DA-6AE7-106EF536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02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82E3A-A434-94E7-06B4-C50F90A8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91775D-5629-D11A-7721-D0FFA3C25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FF0243-5132-2263-59B6-BA51F1A1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A91851-F93E-F463-CAF5-584C27D0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4A7BF5-B24B-A84C-FC89-870BFD33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69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EEF6E-4B47-FD09-E45C-3D537D97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63242F-8F36-BE66-CCDD-B6F5AF07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83A312-9EAB-6E4B-E882-23F78E50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6DA587-AF1C-3B10-6462-268A5BEC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A7B5FC-77CD-7F96-1F24-A2083988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49B77-354C-DD1F-D8FA-7948BEE7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EC710-A388-770F-51A7-F68562789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E4C97D-E2D2-58D7-004A-E84855C03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A033E9-9740-AFA5-6DEC-48AC4811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E8A853-EC0C-14E1-9EAA-1A4C73673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8E7FD9-DB59-DDEE-1767-A4224493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83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FD914-F1BF-443D-AA66-BAAEF47E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851061-6A51-BC97-BC0D-C30AA15B0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DE33FC-E86E-1449-8E9A-5C577C1F4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43BAC3-2E28-FBC8-AB25-AEC9DD24E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D50F61-6FA5-6A95-777D-336771EF7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F85663-6373-665B-68DB-45F14A6A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340A3-9D8F-19DA-DC85-2898A898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447D82D-F0A8-42B2-B541-7D655958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40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E707A-369C-F24D-7648-914D1372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B63B81-367C-C397-69B8-0BD530ED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0BC800-60F7-9B1E-BE62-4A04A3CA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CD8E3A-249D-8613-E6AF-EF198764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26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6262DE-01CB-22FB-89B0-7F3B3FA7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11FBE0-03A4-B7C5-162F-CB6BF310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F3945C-2C40-EDB2-034B-514EE8E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60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322075-F4E9-ED45-9B4D-E85E3A23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88B82D-F984-AA32-D210-6CC6A2C2E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1B1D8D-A53D-1CFF-D497-5A6AAC187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FC4CE1-0096-4757-B764-8B2673BC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6D56F1-2262-8E84-8E74-FD2BEE70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DE672C-6347-FEF4-6009-29E40B8B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82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AFD451-CEF0-FAC9-B590-D57BE050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0613AB-A719-B64C-C534-577C71090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E6CADF-659D-D9C0-890A-E4D3577CF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3ADDE9-289D-2A25-E958-6F0480AC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56038B-075F-91D4-4CCC-B7182779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D8927D-B7BF-5A14-123B-95BCB833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03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E0BA86-CD91-8509-BD7E-82B4E52E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961154-3475-831E-8C07-401315A77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E8B04-DAEA-7D5D-69F0-402543FD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9ACC57-EB79-CF5C-9AE6-70A8E113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F6123D-753E-93F5-DF9C-13322EF1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92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265690-53E7-75A7-EBEB-15CDC3336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2371B3-0D7D-D6B2-2CA7-90D536996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172E83-9175-A2EF-D717-D4818E66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97CC2-3DFA-F032-FEB2-B02193BF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EFDDB-0ABA-26FA-094E-C2EB8314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71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3C4FA1-D973-BAB7-A04E-63835760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2A0FDB-83BE-9BF7-7121-BC5A34E6F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D470C3-3F4E-D4BC-961E-522BBD2D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C1E651-DF11-9D79-927B-AB385DE8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CA414A-3C78-81DA-6AE7-106EF536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0278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82E3A-A434-94E7-06B4-C50F90A8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91775D-5629-D11A-7721-D0FFA3C25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FF0243-5132-2263-59B6-BA51F1A1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A91851-F93E-F463-CAF5-584C27D0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4A7BF5-B24B-A84C-FC89-870BFD33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6949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EEF6E-4B47-FD09-E45C-3D537D97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63242F-8F36-BE66-CCDD-B6F5AF07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83A312-9EAB-6E4B-E882-23F78E50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6DA587-AF1C-3B10-6462-268A5BEC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A7B5FC-77CD-7F96-1F24-A2083988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53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49B77-354C-DD1F-D8FA-7948BEE7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EC710-A388-770F-51A7-F68562789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E4C97D-E2D2-58D7-004A-E84855C03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A033E9-9740-AFA5-6DEC-48AC4811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E8A853-EC0C-14E1-9EAA-1A4C73673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8E7FD9-DB59-DDEE-1767-A4224493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8313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FD914-F1BF-443D-AA66-BAAEF47E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851061-6A51-BC97-BC0D-C30AA15B0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DE33FC-E86E-1449-8E9A-5C577C1F4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43BAC3-2E28-FBC8-AB25-AEC9DD24E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D50F61-6FA5-6A95-777D-336771EF7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F85663-6373-665B-68DB-45F14A6A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340A3-9D8F-19DA-DC85-2898A898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447D82D-F0A8-42B2-B541-7D655958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4010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E707A-369C-F24D-7648-914D1372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B63B81-367C-C397-69B8-0BD530ED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0BC800-60F7-9B1E-BE62-4A04A3CA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CD8E3A-249D-8613-E6AF-EF198764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26994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6262DE-01CB-22FB-89B0-7F3B3FA7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11FBE0-03A4-B7C5-162F-CB6BF310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F3945C-2C40-EDB2-034B-514EE8E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60394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322075-F4E9-ED45-9B4D-E85E3A23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88B82D-F984-AA32-D210-6CC6A2C2E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1B1D8D-A53D-1CFF-D497-5A6AAC187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FC4CE1-0096-4757-B764-8B2673BC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6D56F1-2262-8E84-8E74-FD2BEE70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DE672C-6347-FEF4-6009-29E40B8B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82531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AFD451-CEF0-FAC9-B590-D57BE050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0613AB-A719-B64C-C534-577C71090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E6CADF-659D-D9C0-890A-E4D3577CF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3ADDE9-289D-2A25-E958-6F0480AC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56038B-075F-91D4-4CCC-B7182779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D8927D-B7BF-5A14-123B-95BCB833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03874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E0BA86-CD91-8509-BD7E-82B4E52E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961154-3475-831E-8C07-401315A77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E8B04-DAEA-7D5D-69F0-402543FD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9ACC57-EB79-CF5C-9AE6-70A8E113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F6123D-753E-93F5-DF9C-13322EF1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92107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265690-53E7-75A7-EBEB-15CDC3336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2371B3-0D7D-D6B2-2CA7-90D536996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172E83-9175-A2EF-D717-D4818E66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97CC2-3DFA-F032-FEB2-B02193BF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EFDDB-0ABA-26FA-094E-C2EB8314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71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BA0BE30-5D91-24B6-4920-A8A7D22E9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E58550-8256-C5C1-4E8F-EB225A8B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E9A417-07F1-DDF7-0DC0-71B231530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41BA9-0E33-F74B-A6B7-245C7465441B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D8B968-3047-135C-C9E3-67F6627E4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F64E3-CB22-AFBD-E314-4C7D06306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12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BA0BE30-5D91-24B6-4920-A8A7D22E9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E58550-8256-C5C1-4E8F-EB225A8B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E9A417-07F1-DDF7-0DC0-71B231530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41BA9-0E33-F74B-A6B7-245C7465441B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D8B968-3047-135C-C9E3-67F6627E4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F64E3-CB22-AFBD-E314-4C7D06306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9C532-1F7D-AE49-BE65-E15FC53EF0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12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30.xml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image" Target="../media/image4.png"/><Relationship Id="rId10" Type="http://schemas.openxmlformats.org/officeDocument/2006/relationships/image" Target="../media/image50.png"/><Relationship Id="rId4" Type="http://schemas.openxmlformats.org/officeDocument/2006/relationships/image" Target="../media/image30.png"/><Relationship Id="rId9" Type="http://schemas.openxmlformats.org/officeDocument/2006/relationships/slide" Target="slide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UT de Paris - Rives de Seine | Université Paris Cité">
            <a:extLst>
              <a:ext uri="{FF2B5EF4-FFF2-40B4-BE49-F238E27FC236}">
                <a16:creationId xmlns:a16="http://schemas.microsoft.com/office/drawing/2014/main" id="{8BCBC678-AF1E-94DC-3BE1-8B0DCDB5D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331" y="211204"/>
            <a:ext cx="2849620" cy="57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1E73E37-C16F-14F1-64D8-4053A51A66DF}"/>
              </a:ext>
            </a:extLst>
          </p:cNvPr>
          <p:cNvSpPr txBox="1"/>
          <p:nvPr/>
        </p:nvSpPr>
        <p:spPr>
          <a:xfrm>
            <a:off x="0" y="6596390"/>
            <a:ext cx="2771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>
                <a:solidFill>
                  <a:schemeClr val="bg1">
                    <a:lumMod val="50000"/>
                  </a:schemeClr>
                </a:solidFill>
              </a:rPr>
              <a:t>Eda BASARAN, Diana MAI, BUT2 SD FI EMS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Zoom de diapositive 8">
                <a:extLst>
                  <a:ext uri="{FF2B5EF4-FFF2-40B4-BE49-F238E27FC236}">
                    <a16:creationId xmlns:a16="http://schemas.microsoft.com/office/drawing/2014/main" id="{EF60D7B7-A8B4-3456-7BFE-82ED778AA7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856456"/>
                  </p:ext>
                </p:extLst>
              </p:nvPr>
            </p:nvGraphicFramePr>
            <p:xfrm>
              <a:off x="459600" y="1252601"/>
              <a:ext cx="6479841" cy="3644911"/>
            </p:xfrm>
            <a:graphic>
              <a:graphicData uri="http://schemas.microsoft.com/office/powerpoint/2016/slidezoom">
                <pslz:sldZm>
                  <pslz:sldZmObj sldId="259" cId="1439372487">
                    <pslz:zmPr id="{21A38719-E9DA-A743-B4E0-8FC96031E094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479841" cy="364491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Zoom de diapositive 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F60D7B7-A8B4-3456-7BFE-82ED778AA7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600" y="1252601"/>
                <a:ext cx="6479841" cy="364491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53F1679B-2A1C-E3A3-3583-132220C4054C}"/>
              </a:ext>
            </a:extLst>
          </p:cNvPr>
          <p:cNvSpPr txBox="1"/>
          <p:nvPr/>
        </p:nvSpPr>
        <p:spPr>
          <a:xfrm>
            <a:off x="7125095" y="2122601"/>
            <a:ext cx="444179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400" dirty="0">
                <a:solidFill>
                  <a:schemeClr val="bg1">
                    <a:lumMod val="50000"/>
                  </a:schemeClr>
                </a:solidFill>
              </a:rPr>
              <a:t>SAE </a:t>
            </a:r>
          </a:p>
          <a:p>
            <a:pPr algn="r"/>
            <a:r>
              <a:rPr lang="fr-FR" sz="4400" dirty="0">
                <a:solidFill>
                  <a:schemeClr val="bg1">
                    <a:lumMod val="50000"/>
                  </a:schemeClr>
                </a:solidFill>
              </a:rPr>
              <a:t>DOMAINE D’APPLICATION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6815E0-88D7-0F60-FE6A-AD6777F18829}"/>
              </a:ext>
            </a:extLst>
          </p:cNvPr>
          <p:cNvSpPr txBox="1"/>
          <p:nvPr/>
        </p:nvSpPr>
        <p:spPr>
          <a:xfrm>
            <a:off x="11308425" y="6596390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>
                <a:solidFill>
                  <a:schemeClr val="bg1">
                    <a:lumMod val="50000"/>
                  </a:schemeClr>
                </a:solidFill>
              </a:rPr>
              <a:t>21/11/2025</a:t>
            </a:r>
          </a:p>
        </p:txBody>
      </p:sp>
    </p:spTree>
    <p:extLst>
      <p:ext uri="{BB962C8B-B14F-4D97-AF65-F5344CB8AC3E}">
        <p14:creationId xmlns:p14="http://schemas.microsoft.com/office/powerpoint/2010/main" val="366445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51D2-EE95-11D4-705A-170CDB45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149A4B33-DCCB-C522-3DCD-C802309C3A8D}"/>
              </a:ext>
            </a:extLst>
          </p:cNvPr>
          <p:cNvSpPr txBox="1"/>
          <p:nvPr/>
        </p:nvSpPr>
        <p:spPr>
          <a:xfrm>
            <a:off x="3549958" y="6407720"/>
            <a:ext cx="8394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%SAE2025 (</a:t>
            </a:r>
            <a:r>
              <a:rPr lang="fr-FR">
                <a:solidFill>
                  <a:srgbClr val="941100"/>
                </a:solidFill>
              </a:rPr>
              <a:t>&amp;Chemin.</a:t>
            </a:r>
            <a:r>
              <a:rPr lang="fr-FR"/>
              <a:t>,</a:t>
            </a:r>
            <a:r>
              <a:rPr lang="fr-FR">
                <a:solidFill>
                  <a:srgbClr val="941100"/>
                </a:solidFill>
              </a:rPr>
              <a:t> </a:t>
            </a:r>
            <a:r>
              <a:rPr lang="fr-FR">
                <a:solidFill>
                  <a:srgbClr val="7D3FAE"/>
                </a:solidFill>
              </a:rPr>
              <a:t>&amp;</a:t>
            </a:r>
            <a:r>
              <a:rPr lang="fr-FR" err="1">
                <a:solidFill>
                  <a:srgbClr val="7D3FAE"/>
                </a:solidFill>
              </a:rPr>
              <a:t>NomFichier</a:t>
            </a:r>
            <a:r>
              <a:rPr lang="fr-FR"/>
              <a:t>., </a:t>
            </a:r>
            <a:r>
              <a:rPr lang="fr-FR">
                <a:solidFill>
                  <a:srgbClr val="0432FF"/>
                </a:solidFill>
              </a:rPr>
              <a:t>&amp;</a:t>
            </a:r>
            <a:r>
              <a:rPr lang="fr-FR" err="1">
                <a:solidFill>
                  <a:srgbClr val="0432FF"/>
                </a:solidFill>
              </a:rPr>
              <a:t>ParametreSemaine</a:t>
            </a:r>
            <a:r>
              <a:rPr lang="fr-FR">
                <a:solidFill>
                  <a:srgbClr val="0432FF"/>
                </a:solidFill>
              </a:rPr>
              <a:t>.</a:t>
            </a:r>
            <a:r>
              <a:rPr lang="fr-FR"/>
              <a:t>, Périmètre, Fréquence)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17B0A8B-970C-B21C-6196-3A195772F995}"/>
              </a:ext>
            </a:extLst>
          </p:cNvPr>
          <p:cNvSpPr txBox="1"/>
          <p:nvPr/>
        </p:nvSpPr>
        <p:spPr>
          <a:xfrm>
            <a:off x="3467234" y="194054"/>
            <a:ext cx="2009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%MACRO SAE2025;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48613C1A-6364-0C51-5E3A-E4EE036F37D2}"/>
              </a:ext>
            </a:extLst>
          </p:cNvPr>
          <p:cNvGrpSpPr/>
          <p:nvPr/>
        </p:nvGrpSpPr>
        <p:grpSpPr>
          <a:xfrm>
            <a:off x="3584234" y="655035"/>
            <a:ext cx="4305123" cy="1670154"/>
            <a:chOff x="3584234" y="774496"/>
            <a:chExt cx="4305123" cy="1670154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D3ADB8E9-B3A0-46BC-A85B-192C6625DB02}"/>
                </a:ext>
              </a:extLst>
            </p:cNvPr>
            <p:cNvGrpSpPr/>
            <p:nvPr/>
          </p:nvGrpSpPr>
          <p:grpSpPr>
            <a:xfrm>
              <a:off x="3584234" y="774496"/>
              <a:ext cx="4305123" cy="1670154"/>
              <a:chOff x="3043990" y="1055585"/>
              <a:chExt cx="4305123" cy="167015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B9310B4-50F9-8C07-6659-11A0FF64C30E}"/>
                  </a:ext>
                </a:extLst>
              </p:cNvPr>
              <p:cNvSpPr/>
              <p:nvPr/>
            </p:nvSpPr>
            <p:spPr>
              <a:xfrm>
                <a:off x="3043990" y="1055585"/>
                <a:ext cx="4305123" cy="167015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655468F9-50FC-FCD9-6DC1-0C170881DD2B}"/>
                  </a:ext>
                </a:extLst>
              </p:cNvPr>
              <p:cNvSpPr txBox="1"/>
              <p:nvPr/>
            </p:nvSpPr>
            <p:spPr>
              <a:xfrm>
                <a:off x="3149765" y="1166862"/>
                <a:ext cx="32405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BORNES TEMPS</a:t>
                </a:r>
              </a:p>
            </p:txBody>
          </p:sp>
        </p:grpSp>
        <mc:AlternateContent xmlns:mc="http://schemas.openxmlformats.org/markup-compatibility/2006" xmlns:psez="http://schemas.microsoft.com/office/powerpoint/2016/sectionzoom">
          <mc:Choice Requires="psez">
            <p:graphicFrame>
              <p:nvGraphicFramePr>
                <p:cNvPr id="23" name="Zoom de section 22">
                  <a:extLst>
                    <a:ext uri="{FF2B5EF4-FFF2-40B4-BE49-F238E27FC236}">
                      <a16:creationId xmlns:a16="http://schemas.microsoft.com/office/drawing/2014/main" id="{873B435F-FCB5-7925-52AE-B954FCFEBE9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683208387"/>
                    </p:ext>
                  </p:extLst>
                </p:nvPr>
              </p:nvGraphicFramePr>
              <p:xfrm>
                <a:off x="4890014" y="1360678"/>
                <a:ext cx="1693562" cy="952628"/>
              </p:xfrm>
              <a:graphic>
                <a:graphicData uri="http://schemas.microsoft.com/office/powerpoint/2016/sectionzoom">
                  <psez:sectionZm>
                    <psez:sectionZmObj sectionId="{EE3C5C38-04D2-154C-AB3C-A2065878EEDF}">
                      <psez:zmPr id="{DBDDEDF8-D7D7-6E43-BCF0-624DD3E1CCF3}" transitionDur="1000">
                        <p166:blipFill xmlns:p166="http://schemas.microsoft.com/office/powerpoint/2016/6/main">
                          <a:blip r:embed="rId2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693562" cy="952628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ez:zmPr>
                    </psez:sectionZmObj>
                  </psez:sectionZm>
                </a:graphicData>
              </a:graphic>
            </p:graphicFrame>
          </mc:Choice>
          <mc:Fallback xmlns="">
            <p:pic>
              <p:nvPicPr>
                <p:cNvPr id="23" name="Zoom de section 22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873B435F-FCB5-7925-52AE-B954FCFEBE9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90014" y="1241217"/>
                  <a:ext cx="1693562" cy="95262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964E0E61-D789-0A43-2184-DF0E358E9CF5}"/>
              </a:ext>
            </a:extLst>
          </p:cNvPr>
          <p:cNvGrpSpPr/>
          <p:nvPr/>
        </p:nvGrpSpPr>
        <p:grpSpPr>
          <a:xfrm>
            <a:off x="3584235" y="4668767"/>
            <a:ext cx="4305122" cy="1657109"/>
            <a:chOff x="8136392" y="774496"/>
            <a:chExt cx="4305122" cy="1657109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960ADA01-F53C-BCCF-E5BC-641E459E9ECE}"/>
                </a:ext>
              </a:extLst>
            </p:cNvPr>
            <p:cNvGrpSpPr/>
            <p:nvPr/>
          </p:nvGrpSpPr>
          <p:grpSpPr>
            <a:xfrm>
              <a:off x="8136392" y="774496"/>
              <a:ext cx="4305122" cy="1657109"/>
              <a:chOff x="3449054" y="4350007"/>
              <a:chExt cx="4305122" cy="1657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A48362B-EDF7-7190-08B0-72E5A16A2571}"/>
                  </a:ext>
                </a:extLst>
              </p:cNvPr>
              <p:cNvSpPr/>
              <p:nvPr/>
            </p:nvSpPr>
            <p:spPr>
              <a:xfrm>
                <a:off x="3449054" y="4350007"/>
                <a:ext cx="4305122" cy="165710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C0B1756-D92B-60A9-54D7-F3D691B2EE2E}"/>
                  </a:ext>
                </a:extLst>
              </p:cNvPr>
              <p:cNvSpPr txBox="1"/>
              <p:nvPr/>
            </p:nvSpPr>
            <p:spPr>
              <a:xfrm>
                <a:off x="3616394" y="4458432"/>
                <a:ext cx="1844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APPEL MACROS</a:t>
                </a:r>
              </a:p>
            </p:txBody>
          </p:sp>
        </p:grpSp>
        <mc:AlternateContent xmlns:mc="http://schemas.openxmlformats.org/markup-compatibility/2006" xmlns:psez="http://schemas.microsoft.com/office/powerpoint/2016/sectionzoom">
          <mc:Choice Requires="psez">
            <p:graphicFrame>
              <p:nvGraphicFramePr>
                <p:cNvPr id="26" name="Zoom de section 25">
                  <a:extLst>
                    <a:ext uri="{FF2B5EF4-FFF2-40B4-BE49-F238E27FC236}">
                      <a16:creationId xmlns:a16="http://schemas.microsoft.com/office/drawing/2014/main" id="{4E07E611-750F-89A4-37DA-24331BB511D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78505940"/>
                    </p:ext>
                  </p:extLst>
                </p:nvPr>
              </p:nvGraphicFramePr>
              <p:xfrm>
                <a:off x="9555348" y="1549681"/>
                <a:ext cx="1531544" cy="861494"/>
              </p:xfrm>
              <a:graphic>
                <a:graphicData uri="http://schemas.microsoft.com/office/powerpoint/2016/sectionzoom">
                  <psez:sectionZm>
                    <psez:sectionZmObj sectionId="{8DE1EC73-7564-854B-BAAB-5F8C035ED981}">
                      <psez:zmPr id="{6C51F70F-F4CD-974F-82FA-F2A1E34CB806}" transitionDur="1000">
                        <p166:blipFill xmlns:p166="http://schemas.microsoft.com/office/powerpoint/2016/6/main">
                          <a:blip r:embed="rId5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31544" cy="86149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ez:zmPr>
                    </psez:sectionZmObj>
                  </psez:sectionZm>
                </a:graphicData>
              </a:graphic>
            </p:graphicFrame>
          </mc:Choice>
          <mc:Fallback xmlns="">
            <p:pic>
              <p:nvPicPr>
                <p:cNvPr id="26" name="Zoom de section 25">
                  <a:hlinkClick r:id="rId6" action="ppaction://hlinksldjump"/>
                  <a:extLst>
                    <a:ext uri="{FF2B5EF4-FFF2-40B4-BE49-F238E27FC236}">
                      <a16:creationId xmlns:a16="http://schemas.microsoft.com/office/drawing/2014/main" id="{4E07E611-750F-89A4-37DA-24331BB511D8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03191" y="5443952"/>
                  <a:ext cx="1531544" cy="8614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41AF2406-578C-28EB-A8E4-5DF320687F1A}"/>
              </a:ext>
            </a:extLst>
          </p:cNvPr>
          <p:cNvGrpSpPr/>
          <p:nvPr/>
        </p:nvGrpSpPr>
        <p:grpSpPr>
          <a:xfrm>
            <a:off x="3584235" y="2622166"/>
            <a:ext cx="4305122" cy="1670154"/>
            <a:chOff x="-854073" y="774496"/>
            <a:chExt cx="4305122" cy="1670154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FB6825AB-C50F-BE58-CEA5-9A641B4DEE54}"/>
                </a:ext>
              </a:extLst>
            </p:cNvPr>
            <p:cNvGrpSpPr/>
            <p:nvPr/>
          </p:nvGrpSpPr>
          <p:grpSpPr>
            <a:xfrm>
              <a:off x="-854073" y="774496"/>
              <a:ext cx="4305122" cy="1670154"/>
              <a:chOff x="3449054" y="2214683"/>
              <a:chExt cx="4305122" cy="167015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CD9DB1-3B3F-E4DF-5837-7512EF781C61}"/>
                  </a:ext>
                </a:extLst>
              </p:cNvPr>
              <p:cNvSpPr/>
              <p:nvPr/>
            </p:nvSpPr>
            <p:spPr>
              <a:xfrm>
                <a:off x="3449054" y="2214683"/>
                <a:ext cx="4305122" cy="167015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5600D39-BF8D-B716-8012-C1C297332B42}"/>
                  </a:ext>
                </a:extLst>
              </p:cNvPr>
              <p:cNvSpPr txBox="1"/>
              <p:nvPr/>
            </p:nvSpPr>
            <p:spPr>
              <a:xfrm>
                <a:off x="3655356" y="2323108"/>
                <a:ext cx="10095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IMPORT</a:t>
                </a:r>
              </a:p>
            </p:txBody>
          </p:sp>
        </p:grpSp>
        <mc:AlternateContent xmlns:mc="http://schemas.openxmlformats.org/markup-compatibility/2006" xmlns:psez="http://schemas.microsoft.com/office/powerpoint/2016/sectionzoom">
          <mc:Choice Requires="psez">
            <p:graphicFrame>
              <p:nvGraphicFramePr>
                <p:cNvPr id="28" name="Zoom de section 27">
                  <a:extLst>
                    <a:ext uri="{FF2B5EF4-FFF2-40B4-BE49-F238E27FC236}">
                      <a16:creationId xmlns:a16="http://schemas.microsoft.com/office/drawing/2014/main" id="{3A67D341-9555-D183-1F87-198D10F0F7A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78358801"/>
                    </p:ext>
                  </p:extLst>
                </p:nvPr>
              </p:nvGraphicFramePr>
              <p:xfrm>
                <a:off x="665598" y="1508356"/>
                <a:ext cx="1330114" cy="830721"/>
              </p:xfrm>
              <a:graphic>
                <a:graphicData uri="http://schemas.microsoft.com/office/powerpoint/2016/sectionzoom">
                  <psez:sectionZm>
                    <psez:sectionZmObj sectionId="{776F3C8B-6AAC-ED45-97ED-AF5F0CB44972}">
                      <psez:zmPr id="{187FF438-2CF7-3740-8ACE-3659AC389AF2}" transitionDur="1000">
                        <p166:blipFill xmlns:p166="http://schemas.microsoft.com/office/powerpoint/2016/6/main">
                          <a:blip r:embed="rId8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330114" cy="830721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ez:zmPr>
                    </psez:sectionZmObj>
                  </psez:sectionZm>
                </a:graphicData>
              </a:graphic>
            </p:graphicFrame>
          </mc:Choice>
          <mc:Fallback xmlns="">
            <p:pic>
              <p:nvPicPr>
                <p:cNvPr id="28" name="Zoom de section 27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3A67D341-9555-D183-1F87-198D10F0F7A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03906" y="3356026"/>
                  <a:ext cx="1330114" cy="83072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9372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2B4C-184F-3AFA-1103-CD8284CA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55219D-66B0-1223-6E42-C9A5590B6923}"/>
              </a:ext>
            </a:extLst>
          </p:cNvPr>
          <p:cNvSpPr txBox="1"/>
          <p:nvPr/>
        </p:nvSpPr>
        <p:spPr>
          <a:xfrm>
            <a:off x="2548286" y="2293566"/>
            <a:ext cx="308808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%Macro Dates;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date_1      date_2</a:t>
            </a:r>
            <a:endParaRPr lang="fr-FR" dirty="0">
              <a:highlight>
                <a:srgbClr val="FFFF00"/>
              </a:highlight>
            </a:endParaRPr>
          </a:p>
          <a:p>
            <a:endParaRPr lang="fr-FR" dirty="0">
              <a:highlight>
                <a:srgbClr val="FFFF00"/>
              </a:highlight>
            </a:endParaRPr>
          </a:p>
          <a:p>
            <a:r>
              <a:rPr lang="fr-FR" dirty="0">
                <a:sym typeface="Wingdings" pitchFamily="2" charset="2"/>
              </a:rPr>
              <a:t> </a:t>
            </a:r>
            <a:r>
              <a:rPr lang="fr-FR" dirty="0">
                <a:highlight>
                  <a:srgbClr val="FFFF00"/>
                </a:highlight>
                <a:sym typeface="Wingdings" pitchFamily="2" charset="2"/>
              </a:rPr>
              <a:t>&amp;date_1.</a:t>
            </a:r>
            <a:r>
              <a:rPr lang="fr-FR" dirty="0">
                <a:sym typeface="Wingdings" pitchFamily="2" charset="2"/>
              </a:rPr>
              <a:t>   </a:t>
            </a:r>
            <a:r>
              <a:rPr lang="fr-FR" dirty="0">
                <a:highlight>
                  <a:srgbClr val="FFFF00"/>
                </a:highlight>
                <a:sym typeface="Wingdings" pitchFamily="2" charset="2"/>
              </a:rPr>
              <a:t>&amp;date_2.</a:t>
            </a:r>
            <a:endParaRPr lang="fr-FR" dirty="0">
              <a:highlight>
                <a:srgbClr val="FFFF00"/>
              </a:highlight>
            </a:endParaRPr>
          </a:p>
          <a:p>
            <a:endParaRPr lang="fr-FR" dirty="0"/>
          </a:p>
          <a:p>
            <a:endParaRPr lang="fr-FR" dirty="0"/>
          </a:p>
          <a:p>
            <a:r>
              <a:rPr lang="fr-FR" b="1" dirty="0"/>
              <a:t>%Dates </a:t>
            </a:r>
            <a:r>
              <a:rPr lang="fr-FR" dirty="0"/>
              <a:t>(</a:t>
            </a:r>
            <a:r>
              <a:rPr lang="fr-FR" dirty="0">
                <a:solidFill>
                  <a:srgbClr val="0432FF"/>
                </a:solidFill>
              </a:rPr>
              <a:t>&amp;</a:t>
            </a:r>
            <a:r>
              <a:rPr lang="fr-FR" dirty="0" err="1">
                <a:solidFill>
                  <a:srgbClr val="0432FF"/>
                </a:solidFill>
              </a:rPr>
              <a:t>ParametreSemaine</a:t>
            </a:r>
            <a:r>
              <a:rPr lang="fr-FR" dirty="0">
                <a:solidFill>
                  <a:srgbClr val="0432FF"/>
                </a:solidFill>
              </a:rPr>
              <a:t>.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435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B8389BD-A71A-32A2-29D4-82F81B0C8166}"/>
              </a:ext>
            </a:extLst>
          </p:cNvPr>
          <p:cNvSpPr txBox="1"/>
          <p:nvPr/>
        </p:nvSpPr>
        <p:spPr>
          <a:xfrm>
            <a:off x="4621814" y="1692079"/>
            <a:ext cx="3110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941100"/>
                </a:solidFill>
                <a:highlight>
                  <a:srgbClr val="FFFFFF"/>
                </a:highlight>
              </a:rPr>
              <a:t>&amp;Chemin.</a:t>
            </a:r>
            <a:r>
              <a:rPr lang="fr-FR">
                <a:highlight>
                  <a:srgbClr val="FFFFFF"/>
                </a:highlight>
              </a:rPr>
              <a:t>/</a:t>
            </a:r>
            <a:r>
              <a:rPr lang="fr-FR">
                <a:solidFill>
                  <a:srgbClr val="7030A0"/>
                </a:solidFill>
                <a:highlight>
                  <a:srgbClr val="FFFFFF"/>
                </a:highlight>
              </a:rPr>
              <a:t>&amp;</a:t>
            </a:r>
            <a:r>
              <a:rPr lang="fr-FR" err="1">
                <a:solidFill>
                  <a:srgbClr val="7030A0"/>
                </a:solidFill>
                <a:highlight>
                  <a:srgbClr val="FFFFFF"/>
                </a:highlight>
              </a:rPr>
              <a:t>NomFichier</a:t>
            </a:r>
            <a:r>
              <a:rPr lang="fr-FR">
                <a:solidFill>
                  <a:srgbClr val="7030A0"/>
                </a:solidFill>
              </a:rPr>
              <a:t>.</a:t>
            </a:r>
            <a:r>
              <a:rPr lang="fr-FR"/>
              <a:t>.</a:t>
            </a:r>
            <a:r>
              <a:rPr lang="fr-FR">
                <a:solidFill>
                  <a:srgbClr val="000000"/>
                </a:solidFill>
              </a:rPr>
              <a:t>xlsx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9830025-D080-651A-6065-A43309563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305390"/>
              </p:ext>
            </p:extLst>
          </p:nvPr>
        </p:nvGraphicFramePr>
        <p:xfrm>
          <a:off x="668548" y="2662174"/>
          <a:ext cx="10854904" cy="15336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97728">
                  <a:extLst>
                    <a:ext uri="{9D8B030D-6E8A-4147-A177-3AD203B41FA5}">
                      <a16:colId xmlns:a16="http://schemas.microsoft.com/office/drawing/2014/main" val="3508720004"/>
                    </a:ext>
                  </a:extLst>
                </a:gridCol>
                <a:gridCol w="2019681">
                  <a:extLst>
                    <a:ext uri="{9D8B030D-6E8A-4147-A177-3AD203B41FA5}">
                      <a16:colId xmlns:a16="http://schemas.microsoft.com/office/drawing/2014/main" val="2810879895"/>
                    </a:ext>
                  </a:extLst>
                </a:gridCol>
                <a:gridCol w="1886776">
                  <a:extLst>
                    <a:ext uri="{9D8B030D-6E8A-4147-A177-3AD203B41FA5}">
                      <a16:colId xmlns:a16="http://schemas.microsoft.com/office/drawing/2014/main" val="854169310"/>
                    </a:ext>
                  </a:extLst>
                </a:gridCol>
                <a:gridCol w="1349019">
                  <a:extLst>
                    <a:ext uri="{9D8B030D-6E8A-4147-A177-3AD203B41FA5}">
                      <a16:colId xmlns:a16="http://schemas.microsoft.com/office/drawing/2014/main" val="622480234"/>
                    </a:ext>
                  </a:extLst>
                </a:gridCol>
                <a:gridCol w="1187196">
                  <a:extLst>
                    <a:ext uri="{9D8B030D-6E8A-4147-A177-3AD203B41FA5}">
                      <a16:colId xmlns:a16="http://schemas.microsoft.com/office/drawing/2014/main" val="3086653419"/>
                    </a:ext>
                  </a:extLst>
                </a:gridCol>
                <a:gridCol w="1239641">
                  <a:extLst>
                    <a:ext uri="{9D8B030D-6E8A-4147-A177-3AD203B41FA5}">
                      <a16:colId xmlns:a16="http://schemas.microsoft.com/office/drawing/2014/main" val="2997047820"/>
                    </a:ext>
                  </a:extLst>
                </a:gridCol>
                <a:gridCol w="574863">
                  <a:extLst>
                    <a:ext uri="{9D8B030D-6E8A-4147-A177-3AD203B41FA5}">
                      <a16:colId xmlns:a16="http://schemas.microsoft.com/office/drawing/2014/main" val="86459657"/>
                    </a:ext>
                  </a:extLst>
                </a:gridCol>
              </a:tblGrid>
              <a:tr h="679213">
                <a:tc>
                  <a:txBody>
                    <a:bodyPr/>
                    <a:lstStyle/>
                    <a:p>
                      <a:r>
                        <a:rPr lang="fr-FR" err="1"/>
                        <a:t>NomProgramme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/>
                        <a:t>NomMacro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Répertoire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tx1"/>
                          </a:solidFill>
                        </a:rPr>
                        <a:t>Cible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Périmètre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Fréquence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868850"/>
                  </a:ext>
                </a:extLst>
              </a:tr>
              <a:tr h="854439">
                <a:tc>
                  <a:txBody>
                    <a:bodyPr/>
                    <a:lstStyle/>
                    <a:p>
                      <a:r>
                        <a:rPr lang="fr-FR">
                          <a:highlight>
                            <a:srgbClr val="C0C0C0"/>
                          </a:highlight>
                        </a:rPr>
                        <a:t>&amp;&amp;</a:t>
                      </a:r>
                      <a:r>
                        <a:rPr lang="fr-FR" err="1">
                          <a:highlight>
                            <a:srgbClr val="C0C0C0"/>
                          </a:highlight>
                        </a:rPr>
                        <a:t>NomProgramme&amp;i</a:t>
                      </a:r>
                      <a:r>
                        <a:rPr lang="fr-FR">
                          <a:highlight>
                            <a:srgbClr val="C0C0C0"/>
                          </a:highlight>
                        </a:rPr>
                        <a:t>..</a:t>
                      </a:r>
                      <a:r>
                        <a:rPr lang="fr-FR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highlight>
                            <a:srgbClr val="00FFFF"/>
                          </a:highlight>
                        </a:rPr>
                        <a:t>&amp;&amp;</a:t>
                      </a:r>
                      <a:r>
                        <a:rPr lang="fr-FR" dirty="0" err="1">
                          <a:highlight>
                            <a:srgbClr val="00FFFF"/>
                          </a:highlight>
                        </a:rPr>
                        <a:t>NomMacro&amp;i</a:t>
                      </a:r>
                      <a:r>
                        <a:rPr lang="fr-FR" dirty="0">
                          <a:highlight>
                            <a:srgbClr val="00FFFF"/>
                          </a:highlight>
                        </a:rPr>
                        <a:t>..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highlight>
                            <a:srgbClr val="00FF00"/>
                          </a:highlight>
                        </a:rPr>
                        <a:t>&amp;&amp;</a:t>
                      </a:r>
                      <a:r>
                        <a:rPr lang="fr-FR" err="1">
                          <a:highlight>
                            <a:srgbClr val="00FF00"/>
                          </a:highlight>
                        </a:rPr>
                        <a:t>Répertoire&amp;i</a:t>
                      </a:r>
                      <a:r>
                        <a:rPr lang="fr-FR">
                          <a:highlight>
                            <a:srgbClr val="00FF00"/>
                          </a:highlight>
                        </a:rPr>
                        <a:t>..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highlight>
                            <a:srgbClr val="FF8AD8"/>
                          </a:highlight>
                        </a:rPr>
                        <a:t>&amp;&amp;</a:t>
                      </a:r>
                      <a:r>
                        <a:rPr lang="fr-FR" err="1">
                          <a:highlight>
                            <a:srgbClr val="FF8AD8"/>
                          </a:highlight>
                        </a:rPr>
                        <a:t>Cible&amp;i</a:t>
                      </a:r>
                      <a:r>
                        <a:rPr lang="fr-FR">
                          <a:highlight>
                            <a:srgbClr val="FF8AD8"/>
                          </a:highlight>
                        </a:rPr>
                        <a:t>..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689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80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e 52">
            <a:extLst>
              <a:ext uri="{FF2B5EF4-FFF2-40B4-BE49-F238E27FC236}">
                <a16:creationId xmlns:a16="http://schemas.microsoft.com/office/drawing/2014/main" id="{BCD6746F-92CE-3D41-35A3-D6EF998E5BAA}"/>
              </a:ext>
            </a:extLst>
          </p:cNvPr>
          <p:cNvGrpSpPr/>
          <p:nvPr/>
        </p:nvGrpSpPr>
        <p:grpSpPr>
          <a:xfrm>
            <a:off x="4613807" y="4570681"/>
            <a:ext cx="2169992" cy="1104374"/>
            <a:chOff x="833199" y="3376759"/>
            <a:chExt cx="2424353" cy="165631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F8E4B11-D595-C06A-6052-45AB7F6B9254}"/>
                </a:ext>
              </a:extLst>
            </p:cNvPr>
            <p:cNvSpPr/>
            <p:nvPr/>
          </p:nvSpPr>
          <p:spPr>
            <a:xfrm>
              <a:off x="833199" y="3903624"/>
              <a:ext cx="2424352" cy="11294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6B8FDCE7-D329-CC22-F6F0-F129081FA7A2}"/>
                </a:ext>
              </a:extLst>
            </p:cNvPr>
            <p:cNvSpPr txBox="1"/>
            <p:nvPr/>
          </p:nvSpPr>
          <p:spPr>
            <a:xfrm>
              <a:off x="1510131" y="3376759"/>
              <a:ext cx="10704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/>
                <a:t>EXPORT</a:t>
              </a:r>
              <a:r>
                <a:rPr lang="fr-FR"/>
                <a:t> 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A2238FA5-41FB-3288-04FE-A660A658E02C}"/>
                </a:ext>
              </a:extLst>
            </p:cNvPr>
            <p:cNvSpPr txBox="1"/>
            <p:nvPr/>
          </p:nvSpPr>
          <p:spPr>
            <a:xfrm>
              <a:off x="1036298" y="4181956"/>
              <a:ext cx="2221254" cy="5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>
                  <a:highlight>
                    <a:srgbClr val="00FF00"/>
                  </a:highlight>
                </a:rPr>
                <a:t>&amp;&amp;</a:t>
              </a:r>
              <a:r>
                <a:rPr lang="fr-FR" err="1">
                  <a:highlight>
                    <a:srgbClr val="00FF00"/>
                  </a:highlight>
                </a:rPr>
                <a:t>Répertoire&amp;i</a:t>
              </a:r>
              <a:r>
                <a:rPr lang="fr-FR">
                  <a:highlight>
                    <a:srgbClr val="00FF00"/>
                  </a:highlight>
                </a:rPr>
                <a:t>..</a:t>
              </a:r>
              <a:endParaRPr lang="fr-FR"/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E01777FC-96DF-8BFF-7BD7-3BEFEC69A49E}"/>
              </a:ext>
            </a:extLst>
          </p:cNvPr>
          <p:cNvGrpSpPr/>
          <p:nvPr/>
        </p:nvGrpSpPr>
        <p:grpSpPr>
          <a:xfrm>
            <a:off x="993001" y="2609698"/>
            <a:ext cx="2374822" cy="1124078"/>
            <a:chOff x="7559420" y="3532625"/>
            <a:chExt cx="2374822" cy="112407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2B2D7C1-6E87-A99F-B1B9-D0F1D6964CDC}"/>
                </a:ext>
              </a:extLst>
            </p:cNvPr>
            <p:cNvSpPr/>
            <p:nvPr/>
          </p:nvSpPr>
          <p:spPr>
            <a:xfrm>
              <a:off x="7559420" y="3903624"/>
              <a:ext cx="2374822" cy="7530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B4B0A082-5436-721B-6178-895AC4238E78}"/>
                </a:ext>
              </a:extLst>
            </p:cNvPr>
            <p:cNvSpPr txBox="1"/>
            <p:nvPr/>
          </p:nvSpPr>
          <p:spPr>
            <a:xfrm>
              <a:off x="7756413" y="4144856"/>
              <a:ext cx="19882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>
                  <a:highlight>
                    <a:srgbClr val="FF8AD8"/>
                  </a:highlight>
                </a:rPr>
                <a:t>&amp;&amp;</a:t>
              </a:r>
              <a:r>
                <a:rPr lang="fr-FR" err="1">
                  <a:highlight>
                    <a:srgbClr val="FF8AD8"/>
                  </a:highlight>
                </a:rPr>
                <a:t>Cible&amp;i</a:t>
              </a:r>
              <a:r>
                <a:rPr lang="fr-FR">
                  <a:highlight>
                    <a:srgbClr val="FF8AD8"/>
                  </a:highlight>
                </a:rPr>
                <a:t>..</a:t>
              </a:r>
              <a:r>
                <a:rPr lang="fr-FR"/>
                <a:t>.xlsx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F50518DF-3678-B323-863A-6201A5778314}"/>
                </a:ext>
              </a:extLst>
            </p:cNvPr>
            <p:cNvSpPr txBox="1"/>
            <p:nvPr/>
          </p:nvSpPr>
          <p:spPr>
            <a:xfrm>
              <a:off x="7833247" y="3532625"/>
              <a:ext cx="1827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/>
                <a:t>FICHIER EXCEL</a:t>
              </a:r>
              <a:r>
                <a:rPr lang="fr-FR"/>
                <a:t> </a:t>
              </a: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F7F4DA4-023D-359F-812C-95BB55F0D690}"/>
              </a:ext>
            </a:extLst>
          </p:cNvPr>
          <p:cNvGrpSpPr/>
          <p:nvPr/>
        </p:nvGrpSpPr>
        <p:grpSpPr>
          <a:xfrm>
            <a:off x="3993277" y="948916"/>
            <a:ext cx="3411052" cy="1118720"/>
            <a:chOff x="609964" y="136016"/>
            <a:chExt cx="3411052" cy="1118720"/>
          </a:xfrm>
        </p:grpSpPr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C5644201-6381-A8C8-B132-637D96F49C6E}"/>
                </a:ext>
              </a:extLst>
            </p:cNvPr>
            <p:cNvSpPr txBox="1"/>
            <p:nvPr/>
          </p:nvSpPr>
          <p:spPr>
            <a:xfrm>
              <a:off x="704999" y="657238"/>
              <a:ext cx="31441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>
                  <a:highlight>
                    <a:srgbClr val="C0C0C0"/>
                  </a:highlight>
                </a:rPr>
                <a:t>&amp;&amp;</a:t>
              </a:r>
              <a:r>
                <a:rPr lang="fr-FR" err="1">
                  <a:highlight>
                    <a:srgbClr val="C0C0C0"/>
                  </a:highlight>
                </a:rPr>
                <a:t>NomProgramme&amp;i</a:t>
              </a:r>
              <a:r>
                <a:rPr lang="fr-FR">
                  <a:highlight>
                    <a:srgbClr val="C0C0C0"/>
                  </a:highlight>
                </a:rPr>
                <a:t>..</a:t>
              </a:r>
              <a:r>
                <a:rPr lang="fr-FR"/>
                <a:t>.sas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F120C7-139F-A13B-D4B7-CCD95A30FE08}"/>
                </a:ext>
              </a:extLst>
            </p:cNvPr>
            <p:cNvSpPr/>
            <p:nvPr/>
          </p:nvSpPr>
          <p:spPr>
            <a:xfrm>
              <a:off x="609964" y="493568"/>
              <a:ext cx="3411052" cy="76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A81B2C2B-5CDD-9240-2FE2-55CBC87423A7}"/>
                </a:ext>
              </a:extLst>
            </p:cNvPr>
            <p:cNvSpPr txBox="1"/>
            <p:nvPr/>
          </p:nvSpPr>
          <p:spPr>
            <a:xfrm>
              <a:off x="1554720" y="136016"/>
              <a:ext cx="1444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/>
                <a:t>INCLUSION</a:t>
              </a:r>
              <a:r>
                <a:rPr lang="fr-FR"/>
                <a:t> </a:t>
              </a:r>
            </a:p>
          </p:txBody>
        </p:sp>
      </p:grp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8A4DF17D-2AC1-7D0C-5070-24FA540FE322}"/>
              </a:ext>
            </a:extLst>
          </p:cNvPr>
          <p:cNvCxnSpPr/>
          <p:nvPr/>
        </p:nvCxnSpPr>
        <p:spPr>
          <a:xfrm>
            <a:off x="7701566" y="1654804"/>
            <a:ext cx="1583987" cy="611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3391DBF7-8C3F-5E4D-9C3A-FD8B5CA4F5FA}"/>
              </a:ext>
            </a:extLst>
          </p:cNvPr>
          <p:cNvCxnSpPr/>
          <p:nvPr/>
        </p:nvCxnSpPr>
        <p:spPr>
          <a:xfrm flipH="1">
            <a:off x="7134896" y="4378817"/>
            <a:ext cx="1687132" cy="728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6FB076C7-00EA-B194-FA81-A8E479B8E6DC}"/>
              </a:ext>
            </a:extLst>
          </p:cNvPr>
          <p:cNvCxnSpPr/>
          <p:nvPr/>
        </p:nvCxnSpPr>
        <p:spPr>
          <a:xfrm flipH="1" flipV="1">
            <a:off x="2987899" y="4047577"/>
            <a:ext cx="1429555" cy="105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B3ADABFE-58DE-9A90-2A3D-32F03EE3AD88}"/>
              </a:ext>
            </a:extLst>
          </p:cNvPr>
          <p:cNvGrpSpPr/>
          <p:nvPr/>
        </p:nvGrpSpPr>
        <p:grpSpPr>
          <a:xfrm>
            <a:off x="8550350" y="2361825"/>
            <a:ext cx="2374822" cy="1720208"/>
            <a:chOff x="8550350" y="2361825"/>
            <a:chExt cx="2374822" cy="1720208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73430855-F6A3-2D7F-4EE5-6B340BE9B94F}"/>
                </a:ext>
              </a:extLst>
            </p:cNvPr>
            <p:cNvGrpSpPr/>
            <p:nvPr/>
          </p:nvGrpSpPr>
          <p:grpSpPr>
            <a:xfrm>
              <a:off x="8550350" y="2361825"/>
              <a:ext cx="2374822" cy="1720208"/>
              <a:chOff x="704999" y="1425112"/>
              <a:chExt cx="2374822" cy="1720208"/>
            </a:xfrm>
          </p:grpSpPr>
          <p:grpSp>
            <p:nvGrpSpPr>
              <p:cNvPr id="52" name="Groupe 51">
                <a:extLst>
                  <a:ext uri="{FF2B5EF4-FFF2-40B4-BE49-F238E27FC236}">
                    <a16:creationId xmlns:a16="http://schemas.microsoft.com/office/drawing/2014/main" id="{B6E3D2DF-30C5-673C-4264-937DCB6A7BCD}"/>
                  </a:ext>
                </a:extLst>
              </p:cNvPr>
              <p:cNvGrpSpPr/>
              <p:nvPr/>
            </p:nvGrpSpPr>
            <p:grpSpPr>
              <a:xfrm>
                <a:off x="704999" y="1814294"/>
                <a:ext cx="2374822" cy="1331026"/>
                <a:chOff x="704999" y="903570"/>
                <a:chExt cx="3151703" cy="1129453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AE73AD4-205E-5EAE-00CA-5930CB42ECE1}"/>
                    </a:ext>
                  </a:extLst>
                </p:cNvPr>
                <p:cNvSpPr/>
                <p:nvPr/>
              </p:nvSpPr>
              <p:spPr>
                <a:xfrm>
                  <a:off x="704999" y="903570"/>
                  <a:ext cx="3151703" cy="112945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2B93D92F-A65A-780B-E04A-76A0D187AF93}"/>
                    </a:ext>
                  </a:extLst>
                </p:cNvPr>
                <p:cNvSpPr txBox="1"/>
                <p:nvPr/>
              </p:nvSpPr>
              <p:spPr>
                <a:xfrm>
                  <a:off x="833199" y="1011156"/>
                  <a:ext cx="2698115" cy="313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dirty="0">
                      <a:highlight>
                        <a:srgbClr val="00FFFF"/>
                      </a:highlight>
                    </a:rPr>
                    <a:t>&amp;&amp;</a:t>
                  </a:r>
                  <a:r>
                    <a:rPr lang="fr-FR" dirty="0" err="1">
                      <a:highlight>
                        <a:srgbClr val="00FFFF"/>
                      </a:highlight>
                    </a:rPr>
                    <a:t>NomMacro&amp;i</a:t>
                  </a:r>
                  <a:r>
                    <a:rPr lang="fr-FR" dirty="0">
                      <a:highlight>
                        <a:srgbClr val="00FFFF"/>
                      </a:highlight>
                    </a:rPr>
                    <a:t>..</a:t>
                  </a:r>
                  <a:r>
                    <a:rPr lang="fr-FR" dirty="0"/>
                    <a:t> </a:t>
                  </a:r>
                </a:p>
              </p:txBody>
            </p:sp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27F91B9D-0A05-A01D-909C-F471C8683D8F}"/>
                    </a:ext>
                  </a:extLst>
                </p:cNvPr>
                <p:cNvSpPr txBox="1"/>
                <p:nvPr/>
              </p:nvSpPr>
              <p:spPr>
                <a:xfrm>
                  <a:off x="833199" y="1350771"/>
                  <a:ext cx="1544994" cy="221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100"/>
                    <a:t>PROC SQL</a:t>
                  </a:r>
                </a:p>
              </p:txBody>
            </p:sp>
          </p:grpSp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B7C249C6-A761-2EBB-B886-F718A29B2CB0}"/>
                  </a:ext>
                </a:extLst>
              </p:cNvPr>
              <p:cNvSpPr txBox="1"/>
              <p:nvPr/>
            </p:nvSpPr>
            <p:spPr>
              <a:xfrm>
                <a:off x="1440202" y="1425112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/>
                  <a:t>APPEL</a:t>
                </a:r>
                <a:r>
                  <a:rPr lang="fr-FR"/>
                  <a:t> </a:t>
                </a:r>
              </a:p>
            </p:txBody>
          </p:sp>
        </p:grp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777BF3F5-5897-3758-8ADB-0A78B1CEF762}"/>
                </a:ext>
              </a:extLst>
            </p:cNvPr>
            <p:cNvSpPr txBox="1"/>
            <p:nvPr/>
          </p:nvSpPr>
          <p:spPr>
            <a:xfrm>
              <a:off x="8662967" y="3590753"/>
              <a:ext cx="13003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>
                  <a:highlight>
                    <a:srgbClr val="FFFF00"/>
                  </a:highlight>
                </a:rPr>
                <a:t>&amp;date_1. &amp;date_2.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3721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2B4C-184F-3AFA-1103-CD8284CA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E55219D-66B0-1223-6E42-C9A5590B6923}"/>
              </a:ext>
            </a:extLst>
          </p:cNvPr>
          <p:cNvSpPr txBox="1"/>
          <p:nvPr/>
        </p:nvSpPr>
        <p:spPr>
          <a:xfrm>
            <a:off x="2548286" y="2293566"/>
            <a:ext cx="32598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Macro Dates </a:t>
            </a:r>
          </a:p>
          <a:p>
            <a:endParaRPr lang="fr-FR" dirty="0"/>
          </a:p>
          <a:p>
            <a:r>
              <a:rPr lang="fr-FR" dirty="0">
                <a:highlight>
                  <a:srgbClr val="FFFF00"/>
                </a:highlight>
              </a:rPr>
              <a:t>&amp;date_1.</a:t>
            </a:r>
            <a:r>
              <a:rPr lang="fr-FR" dirty="0"/>
              <a:t>      </a:t>
            </a:r>
            <a:r>
              <a:rPr lang="fr-FR" dirty="0">
                <a:highlight>
                  <a:srgbClr val="FFFF00"/>
                </a:highlight>
              </a:rPr>
              <a:t>&amp;date_2.</a:t>
            </a:r>
          </a:p>
          <a:p>
            <a:endParaRPr lang="fr-FR" dirty="0"/>
          </a:p>
          <a:p>
            <a:r>
              <a:rPr lang="fr-FR" dirty="0"/>
              <a:t>%Dates (</a:t>
            </a:r>
            <a:r>
              <a:rPr lang="fr-FR" dirty="0">
                <a:solidFill>
                  <a:srgbClr val="0432FF"/>
                </a:solidFill>
              </a:rPr>
              <a:t>&amp;</a:t>
            </a:r>
            <a:r>
              <a:rPr lang="fr-FR" dirty="0" err="1">
                <a:solidFill>
                  <a:srgbClr val="0432FF"/>
                </a:solidFill>
              </a:rPr>
              <a:t>ParametreSemaine</a:t>
            </a:r>
            <a:r>
              <a:rPr lang="fr-FR" dirty="0">
                <a:solidFill>
                  <a:srgbClr val="0432FF"/>
                </a:solidFill>
              </a:rPr>
              <a:t>.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4355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B8389BD-A71A-32A2-29D4-82F81B0C8166}"/>
              </a:ext>
            </a:extLst>
          </p:cNvPr>
          <p:cNvSpPr txBox="1"/>
          <p:nvPr/>
        </p:nvSpPr>
        <p:spPr>
          <a:xfrm>
            <a:off x="4621814" y="1692079"/>
            <a:ext cx="3110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41100"/>
                </a:solidFill>
                <a:highlight>
                  <a:srgbClr val="FFFFFF"/>
                </a:highlight>
              </a:rPr>
              <a:t>&amp;Chemin.</a:t>
            </a:r>
            <a:r>
              <a:rPr lang="fr-FR" dirty="0">
                <a:highlight>
                  <a:srgbClr val="FFFFFF"/>
                </a:highlight>
              </a:rPr>
              <a:t>/</a:t>
            </a:r>
            <a:r>
              <a:rPr lang="fr-FR" dirty="0">
                <a:solidFill>
                  <a:srgbClr val="7030A0"/>
                </a:solidFill>
                <a:highlight>
                  <a:srgbClr val="FFFFFF"/>
                </a:highlight>
              </a:rPr>
              <a:t>&amp;</a:t>
            </a:r>
            <a:r>
              <a:rPr lang="fr-FR" dirty="0" err="1">
                <a:solidFill>
                  <a:srgbClr val="7030A0"/>
                </a:solidFill>
                <a:highlight>
                  <a:srgbClr val="FFFFFF"/>
                </a:highlight>
              </a:rPr>
              <a:t>NomFichier</a:t>
            </a:r>
            <a:r>
              <a:rPr lang="fr-FR" dirty="0">
                <a:solidFill>
                  <a:srgbClr val="7030A0"/>
                </a:solidFill>
              </a:rPr>
              <a:t>.</a:t>
            </a:r>
            <a:r>
              <a:rPr lang="fr-FR" dirty="0"/>
              <a:t>.</a:t>
            </a:r>
            <a:r>
              <a:rPr lang="fr-FR" dirty="0">
                <a:solidFill>
                  <a:srgbClr val="000000"/>
                </a:solidFill>
              </a:rPr>
              <a:t>xlsx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9830025-D080-651A-6065-A43309563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598693"/>
              </p:ext>
            </p:extLst>
          </p:nvPr>
        </p:nvGraphicFramePr>
        <p:xfrm>
          <a:off x="668548" y="2662174"/>
          <a:ext cx="10854904" cy="15336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97728">
                  <a:extLst>
                    <a:ext uri="{9D8B030D-6E8A-4147-A177-3AD203B41FA5}">
                      <a16:colId xmlns:a16="http://schemas.microsoft.com/office/drawing/2014/main" val="3508720004"/>
                    </a:ext>
                  </a:extLst>
                </a:gridCol>
                <a:gridCol w="2019681">
                  <a:extLst>
                    <a:ext uri="{9D8B030D-6E8A-4147-A177-3AD203B41FA5}">
                      <a16:colId xmlns:a16="http://schemas.microsoft.com/office/drawing/2014/main" val="2810879895"/>
                    </a:ext>
                  </a:extLst>
                </a:gridCol>
                <a:gridCol w="1886776">
                  <a:extLst>
                    <a:ext uri="{9D8B030D-6E8A-4147-A177-3AD203B41FA5}">
                      <a16:colId xmlns:a16="http://schemas.microsoft.com/office/drawing/2014/main" val="854169310"/>
                    </a:ext>
                  </a:extLst>
                </a:gridCol>
                <a:gridCol w="1349019">
                  <a:extLst>
                    <a:ext uri="{9D8B030D-6E8A-4147-A177-3AD203B41FA5}">
                      <a16:colId xmlns:a16="http://schemas.microsoft.com/office/drawing/2014/main" val="622480234"/>
                    </a:ext>
                  </a:extLst>
                </a:gridCol>
                <a:gridCol w="1187196">
                  <a:extLst>
                    <a:ext uri="{9D8B030D-6E8A-4147-A177-3AD203B41FA5}">
                      <a16:colId xmlns:a16="http://schemas.microsoft.com/office/drawing/2014/main" val="3086653419"/>
                    </a:ext>
                  </a:extLst>
                </a:gridCol>
                <a:gridCol w="1239641">
                  <a:extLst>
                    <a:ext uri="{9D8B030D-6E8A-4147-A177-3AD203B41FA5}">
                      <a16:colId xmlns:a16="http://schemas.microsoft.com/office/drawing/2014/main" val="2997047820"/>
                    </a:ext>
                  </a:extLst>
                </a:gridCol>
                <a:gridCol w="574863">
                  <a:extLst>
                    <a:ext uri="{9D8B030D-6E8A-4147-A177-3AD203B41FA5}">
                      <a16:colId xmlns:a16="http://schemas.microsoft.com/office/drawing/2014/main" val="86459657"/>
                    </a:ext>
                  </a:extLst>
                </a:gridCol>
              </a:tblGrid>
              <a:tr h="679213">
                <a:tc>
                  <a:txBody>
                    <a:bodyPr/>
                    <a:lstStyle/>
                    <a:p>
                      <a:r>
                        <a:rPr lang="fr-FR" dirty="0" err="1"/>
                        <a:t>NomProgramme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NomMacro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Répertoire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Cible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Périmètre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868850"/>
                  </a:ext>
                </a:extLst>
              </a:tr>
              <a:tr h="854439">
                <a:tc>
                  <a:txBody>
                    <a:bodyPr/>
                    <a:lstStyle/>
                    <a:p>
                      <a:r>
                        <a:rPr lang="fr-FR" dirty="0">
                          <a:highlight>
                            <a:srgbClr val="C0C0C0"/>
                          </a:highlight>
                        </a:rPr>
                        <a:t>&amp;&amp;</a:t>
                      </a:r>
                      <a:r>
                        <a:rPr lang="fr-FR" dirty="0" err="1">
                          <a:highlight>
                            <a:srgbClr val="C0C0C0"/>
                          </a:highlight>
                        </a:rPr>
                        <a:t>NomProgramme&amp;i</a:t>
                      </a:r>
                      <a:r>
                        <a:rPr lang="fr-FR" dirty="0">
                          <a:highlight>
                            <a:srgbClr val="C0C0C0"/>
                          </a:highlight>
                        </a:rPr>
                        <a:t>..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highlight>
                            <a:srgbClr val="00FFFF"/>
                          </a:highlight>
                        </a:rPr>
                        <a:t>&amp;&amp;</a:t>
                      </a:r>
                      <a:r>
                        <a:rPr lang="fr-FR" dirty="0" err="1">
                          <a:highlight>
                            <a:srgbClr val="00FFFF"/>
                          </a:highlight>
                        </a:rPr>
                        <a:t>NomMAcro&amp;i</a:t>
                      </a:r>
                      <a:r>
                        <a:rPr lang="fr-FR" dirty="0">
                          <a:highlight>
                            <a:srgbClr val="00FFFF"/>
                          </a:highlight>
                        </a:rPr>
                        <a:t>..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highlight>
                            <a:srgbClr val="00FF00"/>
                          </a:highlight>
                        </a:rPr>
                        <a:t>&amp;&amp;</a:t>
                      </a:r>
                      <a:r>
                        <a:rPr lang="fr-FR" dirty="0" err="1">
                          <a:highlight>
                            <a:srgbClr val="00FF00"/>
                          </a:highlight>
                        </a:rPr>
                        <a:t>Répertoire&amp;i</a:t>
                      </a:r>
                      <a:r>
                        <a:rPr lang="fr-FR" dirty="0">
                          <a:highlight>
                            <a:srgbClr val="00FF00"/>
                          </a:highlight>
                        </a:rPr>
                        <a:t>..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highlight>
                            <a:srgbClr val="FF8AD8"/>
                          </a:highlight>
                        </a:rPr>
                        <a:t>&amp;&amp;</a:t>
                      </a:r>
                      <a:r>
                        <a:rPr lang="fr-FR" dirty="0" err="1">
                          <a:highlight>
                            <a:srgbClr val="FF8AD8"/>
                          </a:highlight>
                        </a:rPr>
                        <a:t>Cible&amp;i</a:t>
                      </a:r>
                      <a:r>
                        <a:rPr lang="fr-FR" dirty="0">
                          <a:highlight>
                            <a:srgbClr val="FF8AD8"/>
                          </a:highlight>
                        </a:rPr>
                        <a:t>..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689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8030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e 52">
            <a:extLst>
              <a:ext uri="{FF2B5EF4-FFF2-40B4-BE49-F238E27FC236}">
                <a16:creationId xmlns:a16="http://schemas.microsoft.com/office/drawing/2014/main" id="{BCD6746F-92CE-3D41-35A3-D6EF998E5BAA}"/>
              </a:ext>
            </a:extLst>
          </p:cNvPr>
          <p:cNvGrpSpPr/>
          <p:nvPr/>
        </p:nvGrpSpPr>
        <p:grpSpPr>
          <a:xfrm>
            <a:off x="4613807" y="4570681"/>
            <a:ext cx="2169992" cy="1104374"/>
            <a:chOff x="833199" y="3376759"/>
            <a:chExt cx="2424353" cy="165631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F8E4B11-D595-C06A-6052-45AB7F6B9254}"/>
                </a:ext>
              </a:extLst>
            </p:cNvPr>
            <p:cNvSpPr/>
            <p:nvPr/>
          </p:nvSpPr>
          <p:spPr>
            <a:xfrm>
              <a:off x="833199" y="3903624"/>
              <a:ext cx="2424352" cy="11294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6B8FDCE7-D329-CC22-F6F0-F129081FA7A2}"/>
                </a:ext>
              </a:extLst>
            </p:cNvPr>
            <p:cNvSpPr txBox="1"/>
            <p:nvPr/>
          </p:nvSpPr>
          <p:spPr>
            <a:xfrm>
              <a:off x="1510131" y="3376759"/>
              <a:ext cx="10704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/>
                <a:t>EXPORT</a:t>
              </a:r>
              <a:r>
                <a:rPr lang="fr-FR" dirty="0"/>
                <a:t> 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A2238FA5-41FB-3288-04FE-A660A658E02C}"/>
                </a:ext>
              </a:extLst>
            </p:cNvPr>
            <p:cNvSpPr txBox="1"/>
            <p:nvPr/>
          </p:nvSpPr>
          <p:spPr>
            <a:xfrm>
              <a:off x="1036298" y="4181956"/>
              <a:ext cx="2221254" cy="5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>
                  <a:highlight>
                    <a:srgbClr val="00FF00"/>
                  </a:highlight>
                </a:rPr>
                <a:t>&amp;&amp;</a:t>
              </a:r>
              <a:r>
                <a:rPr lang="fr-FR" dirty="0" err="1">
                  <a:highlight>
                    <a:srgbClr val="00FF00"/>
                  </a:highlight>
                </a:rPr>
                <a:t>Répertoire&amp;i</a:t>
              </a:r>
              <a:r>
                <a:rPr lang="fr-FR" dirty="0">
                  <a:highlight>
                    <a:srgbClr val="00FF00"/>
                  </a:highlight>
                </a:rPr>
                <a:t>..</a:t>
              </a:r>
              <a:endParaRPr lang="fr-FR" dirty="0"/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E01777FC-96DF-8BFF-7BD7-3BEFEC69A49E}"/>
              </a:ext>
            </a:extLst>
          </p:cNvPr>
          <p:cNvGrpSpPr/>
          <p:nvPr/>
        </p:nvGrpSpPr>
        <p:grpSpPr>
          <a:xfrm>
            <a:off x="993001" y="2609698"/>
            <a:ext cx="2374822" cy="1124078"/>
            <a:chOff x="7559420" y="3532625"/>
            <a:chExt cx="2374822" cy="112407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2B2D7C1-6E87-A99F-B1B9-D0F1D6964CDC}"/>
                </a:ext>
              </a:extLst>
            </p:cNvPr>
            <p:cNvSpPr/>
            <p:nvPr/>
          </p:nvSpPr>
          <p:spPr>
            <a:xfrm>
              <a:off x="7559420" y="3903624"/>
              <a:ext cx="2374822" cy="7530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B4B0A082-5436-721B-6178-895AC4238E78}"/>
                </a:ext>
              </a:extLst>
            </p:cNvPr>
            <p:cNvSpPr txBox="1"/>
            <p:nvPr/>
          </p:nvSpPr>
          <p:spPr>
            <a:xfrm>
              <a:off x="7756413" y="4144856"/>
              <a:ext cx="19882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>
                  <a:highlight>
                    <a:srgbClr val="FF8AD8"/>
                  </a:highlight>
                </a:rPr>
                <a:t>&amp;&amp;</a:t>
              </a:r>
              <a:r>
                <a:rPr lang="fr-FR" dirty="0" err="1">
                  <a:highlight>
                    <a:srgbClr val="FF8AD8"/>
                  </a:highlight>
                </a:rPr>
                <a:t>Cible&amp;i</a:t>
              </a:r>
              <a:r>
                <a:rPr lang="fr-FR" dirty="0">
                  <a:highlight>
                    <a:srgbClr val="FF8AD8"/>
                  </a:highlight>
                </a:rPr>
                <a:t>..</a:t>
              </a:r>
              <a:r>
                <a:rPr lang="fr-FR" dirty="0"/>
                <a:t>.xlsx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F50518DF-3678-B323-863A-6201A5778314}"/>
                </a:ext>
              </a:extLst>
            </p:cNvPr>
            <p:cNvSpPr txBox="1"/>
            <p:nvPr/>
          </p:nvSpPr>
          <p:spPr>
            <a:xfrm>
              <a:off x="7833247" y="3532625"/>
              <a:ext cx="1827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/>
                <a:t>FICHIER EXCEL</a:t>
              </a:r>
              <a:r>
                <a:rPr lang="fr-FR" dirty="0"/>
                <a:t> </a:t>
              </a: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F7F4DA4-023D-359F-812C-95BB55F0D690}"/>
              </a:ext>
            </a:extLst>
          </p:cNvPr>
          <p:cNvGrpSpPr/>
          <p:nvPr/>
        </p:nvGrpSpPr>
        <p:grpSpPr>
          <a:xfrm>
            <a:off x="3993277" y="948916"/>
            <a:ext cx="3411052" cy="1118720"/>
            <a:chOff x="609964" y="136016"/>
            <a:chExt cx="3411052" cy="1118720"/>
          </a:xfrm>
        </p:grpSpPr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C5644201-6381-A8C8-B132-637D96F49C6E}"/>
                </a:ext>
              </a:extLst>
            </p:cNvPr>
            <p:cNvSpPr txBox="1"/>
            <p:nvPr/>
          </p:nvSpPr>
          <p:spPr>
            <a:xfrm>
              <a:off x="704999" y="657238"/>
              <a:ext cx="31441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>
                  <a:highlight>
                    <a:srgbClr val="C0C0C0"/>
                  </a:highlight>
                </a:rPr>
                <a:t>&amp;&amp;</a:t>
              </a:r>
              <a:r>
                <a:rPr lang="fr-FR" dirty="0" err="1">
                  <a:highlight>
                    <a:srgbClr val="C0C0C0"/>
                  </a:highlight>
                </a:rPr>
                <a:t>NomProgramme&amp;i</a:t>
              </a:r>
              <a:r>
                <a:rPr lang="fr-FR" dirty="0">
                  <a:highlight>
                    <a:srgbClr val="C0C0C0"/>
                  </a:highlight>
                </a:rPr>
                <a:t>..</a:t>
              </a:r>
              <a:r>
                <a:rPr lang="fr-FR" dirty="0"/>
                <a:t>.sas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F120C7-139F-A13B-D4B7-CCD95A30FE08}"/>
                </a:ext>
              </a:extLst>
            </p:cNvPr>
            <p:cNvSpPr/>
            <p:nvPr/>
          </p:nvSpPr>
          <p:spPr>
            <a:xfrm>
              <a:off x="609964" y="493568"/>
              <a:ext cx="3411052" cy="76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A81B2C2B-5CDD-9240-2FE2-55CBC87423A7}"/>
                </a:ext>
              </a:extLst>
            </p:cNvPr>
            <p:cNvSpPr txBox="1"/>
            <p:nvPr/>
          </p:nvSpPr>
          <p:spPr>
            <a:xfrm>
              <a:off x="1554720" y="136016"/>
              <a:ext cx="1444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/>
                <a:t>INCLUSION</a:t>
              </a:r>
              <a:r>
                <a:rPr lang="fr-FR" dirty="0"/>
                <a:t> </a:t>
              </a:r>
            </a:p>
          </p:txBody>
        </p:sp>
      </p:grp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8A4DF17D-2AC1-7D0C-5070-24FA540FE322}"/>
              </a:ext>
            </a:extLst>
          </p:cNvPr>
          <p:cNvCxnSpPr/>
          <p:nvPr/>
        </p:nvCxnSpPr>
        <p:spPr>
          <a:xfrm>
            <a:off x="7701566" y="1654804"/>
            <a:ext cx="1583987" cy="611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3391DBF7-8C3F-5E4D-9C3A-FD8B5CA4F5FA}"/>
              </a:ext>
            </a:extLst>
          </p:cNvPr>
          <p:cNvCxnSpPr/>
          <p:nvPr/>
        </p:nvCxnSpPr>
        <p:spPr>
          <a:xfrm flipH="1">
            <a:off x="7134896" y="4378817"/>
            <a:ext cx="1687132" cy="728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6FB076C7-00EA-B194-FA81-A8E479B8E6DC}"/>
              </a:ext>
            </a:extLst>
          </p:cNvPr>
          <p:cNvCxnSpPr/>
          <p:nvPr/>
        </p:nvCxnSpPr>
        <p:spPr>
          <a:xfrm flipH="1" flipV="1">
            <a:off x="2987899" y="4047577"/>
            <a:ext cx="1429555" cy="105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88669AB8-680C-99BD-7DA8-4A5DB5416D40}"/>
              </a:ext>
            </a:extLst>
          </p:cNvPr>
          <p:cNvCxnSpPr/>
          <p:nvPr/>
        </p:nvCxnSpPr>
        <p:spPr>
          <a:xfrm flipV="1">
            <a:off x="2421228" y="1538479"/>
            <a:ext cx="1270713" cy="82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B3ADABFE-58DE-9A90-2A3D-32F03EE3AD88}"/>
              </a:ext>
            </a:extLst>
          </p:cNvPr>
          <p:cNvGrpSpPr/>
          <p:nvPr/>
        </p:nvGrpSpPr>
        <p:grpSpPr>
          <a:xfrm>
            <a:off x="8550350" y="2361825"/>
            <a:ext cx="2374822" cy="1720208"/>
            <a:chOff x="8550350" y="2361825"/>
            <a:chExt cx="2374822" cy="1720208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73430855-F6A3-2D7F-4EE5-6B340BE9B94F}"/>
                </a:ext>
              </a:extLst>
            </p:cNvPr>
            <p:cNvGrpSpPr/>
            <p:nvPr/>
          </p:nvGrpSpPr>
          <p:grpSpPr>
            <a:xfrm>
              <a:off x="8550350" y="2361825"/>
              <a:ext cx="2374822" cy="1720208"/>
              <a:chOff x="704999" y="1425112"/>
              <a:chExt cx="2374822" cy="1720208"/>
            </a:xfrm>
          </p:grpSpPr>
          <p:grpSp>
            <p:nvGrpSpPr>
              <p:cNvPr id="52" name="Groupe 51">
                <a:extLst>
                  <a:ext uri="{FF2B5EF4-FFF2-40B4-BE49-F238E27FC236}">
                    <a16:creationId xmlns:a16="http://schemas.microsoft.com/office/drawing/2014/main" id="{B6E3D2DF-30C5-673C-4264-937DCB6A7BCD}"/>
                  </a:ext>
                </a:extLst>
              </p:cNvPr>
              <p:cNvGrpSpPr/>
              <p:nvPr/>
            </p:nvGrpSpPr>
            <p:grpSpPr>
              <a:xfrm>
                <a:off x="704999" y="1814294"/>
                <a:ext cx="2374822" cy="1331026"/>
                <a:chOff x="704999" y="903570"/>
                <a:chExt cx="3151703" cy="1129453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AE73AD4-205E-5EAE-00CA-5930CB42ECE1}"/>
                    </a:ext>
                  </a:extLst>
                </p:cNvPr>
                <p:cNvSpPr/>
                <p:nvPr/>
              </p:nvSpPr>
              <p:spPr>
                <a:xfrm>
                  <a:off x="704999" y="903570"/>
                  <a:ext cx="3151703" cy="112945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2B93D92F-A65A-780B-E04A-76A0D187AF93}"/>
                    </a:ext>
                  </a:extLst>
                </p:cNvPr>
                <p:cNvSpPr txBox="1"/>
                <p:nvPr/>
              </p:nvSpPr>
              <p:spPr>
                <a:xfrm>
                  <a:off x="833199" y="1011156"/>
                  <a:ext cx="2698115" cy="3134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dirty="0">
                      <a:highlight>
                        <a:srgbClr val="00FFFF"/>
                      </a:highlight>
                    </a:rPr>
                    <a:t>&amp;&amp;</a:t>
                  </a:r>
                  <a:r>
                    <a:rPr lang="fr-FR" dirty="0" err="1">
                      <a:highlight>
                        <a:srgbClr val="00FFFF"/>
                      </a:highlight>
                    </a:rPr>
                    <a:t>NomMAcro&amp;i</a:t>
                  </a:r>
                  <a:r>
                    <a:rPr lang="fr-FR" dirty="0">
                      <a:highlight>
                        <a:srgbClr val="00FFFF"/>
                      </a:highlight>
                    </a:rPr>
                    <a:t>..</a:t>
                  </a:r>
                  <a:r>
                    <a:rPr lang="fr-FR" dirty="0"/>
                    <a:t> </a:t>
                  </a:r>
                </a:p>
              </p:txBody>
            </p:sp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27F91B9D-0A05-A01D-909C-F471C8683D8F}"/>
                    </a:ext>
                  </a:extLst>
                </p:cNvPr>
                <p:cNvSpPr txBox="1"/>
                <p:nvPr/>
              </p:nvSpPr>
              <p:spPr>
                <a:xfrm>
                  <a:off x="833199" y="1350771"/>
                  <a:ext cx="1544994" cy="221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100" dirty="0"/>
                    <a:t>PROC SQL</a:t>
                  </a:r>
                </a:p>
              </p:txBody>
            </p:sp>
          </p:grpSp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B7C249C6-A761-2EBB-B886-F718A29B2CB0}"/>
                  </a:ext>
                </a:extLst>
              </p:cNvPr>
              <p:cNvSpPr txBox="1"/>
              <p:nvPr/>
            </p:nvSpPr>
            <p:spPr>
              <a:xfrm>
                <a:off x="1440202" y="1425112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APPEL</a:t>
                </a:r>
                <a:r>
                  <a:rPr lang="fr-FR" dirty="0"/>
                  <a:t> </a:t>
                </a:r>
              </a:p>
            </p:txBody>
          </p:sp>
        </p:grp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777BF3F5-5897-3758-8ADB-0A78B1CEF762}"/>
                </a:ext>
              </a:extLst>
            </p:cNvPr>
            <p:cNvSpPr txBox="1"/>
            <p:nvPr/>
          </p:nvSpPr>
          <p:spPr>
            <a:xfrm>
              <a:off x="8662967" y="3590753"/>
              <a:ext cx="13003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>
                  <a:highlight>
                    <a:srgbClr val="FFFF00"/>
                  </a:highlight>
                </a:rPr>
                <a:t>&amp;date_1. &amp;date_2.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37212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136</Words>
  <Application>Microsoft Office PowerPoint</Application>
  <PresentationFormat>Grand écran</PresentationFormat>
  <Paragraphs>40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Eda BASARAN</dc:creator>
  <cp:lastModifiedBy>Eda</cp:lastModifiedBy>
  <cp:revision>4</cp:revision>
  <dcterms:created xsi:type="dcterms:W3CDTF">2025-11-19T18:49:23Z</dcterms:created>
  <dcterms:modified xsi:type="dcterms:W3CDTF">2025-11-21T08:47:36Z</dcterms:modified>
</cp:coreProperties>
</file>